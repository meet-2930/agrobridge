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302" r:id="rId3"/>
    <p:sldId id="303" r:id="rId4"/>
    <p:sldId id="300" r:id="rId5"/>
    <p:sldId id="294" r:id="rId6"/>
    <p:sldId id="304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7628"/>
    <a:srgbClr val="010000"/>
    <a:srgbClr val="1F7B6C"/>
    <a:srgbClr val="996633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08ED50-F6DB-47F9-BA94-7EE0D4BD8394}" v="25" dt="2026-09-12T09:58:05.541"/>
    <p1510:client id="{C877C494-20D9-4329-950D-A7C9E1832D3F}" v="4" dt="2026-09-11T18:56:01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590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E7F39-06D9-CA26-019A-83A921EC7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8E702309-A148-19A9-D7ED-F168D76B0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2B3AF449-BF32-9814-8B9E-EA139D30C5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8782421A-32F1-5A60-333E-B8FEF08135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25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94A51-EED5-A33C-E67B-843CBCBE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01D8E3A-24C8-4C33-ACFA-EFD03CE74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D75B3191-799E-F1A7-A9EF-5A8498A306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9C059F0-A87D-ED79-0524-445208766D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373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EE52D-0587-C6A8-C13A-8C101E39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B9EDA0A-3966-1A43-4F88-DDEB7CDE5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D6992E84-3048-8747-D2A9-7F9146EA8C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631E25AA-3A2C-837B-670D-4D27ACFC4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0688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8251527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896615" y="346563"/>
            <a:ext cx="8534400" cy="2208572"/>
          </a:xfrm>
        </p:spPr>
        <p:txBody>
          <a:bodyPr/>
          <a:lstStyle/>
          <a:p>
            <a:endParaRPr lang="en-US" b="1" dirty="0">
              <a:solidFill>
                <a:srgbClr val="1F7B6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AgroBridge - Smart Queue and Slot Management for APMC Procurement Centres</a:t>
            </a:r>
            <a:endParaRPr lang="en-IN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52522" y="-470493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428" y="1965960"/>
            <a:ext cx="7035210" cy="475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sz="1900" b="1" i="0">
                <a:solidFill>
                  <a:srgbClr val="222222"/>
                </a:solidFill>
                <a:latin typeface="Arial"/>
              </a:rPr>
              <a:t>Problem Statement ID- 26032</a:t>
            </a:r>
            <a:endParaRPr lang="en-US" dirty="0"/>
          </a:p>
          <a:p>
            <a:pPr algn="just">
              <a:spcAft>
                <a:spcPts val="600"/>
              </a:spcAft>
            </a:pPr>
            <a:r>
              <a:rPr sz="1900" b="1" i="0">
                <a:solidFill>
                  <a:srgbClr val="222222"/>
                </a:solidFill>
                <a:latin typeface="Arial"/>
              </a:rPr>
              <a:t>Problem Statement Title- Farmers often face long waiting times, lack of information regarding procurement schedules and uncertainty about procurement status.</a:t>
            </a:r>
          </a:p>
          <a:p>
            <a:pPr algn="just">
              <a:spcAft>
                <a:spcPts val="600"/>
              </a:spcAft>
            </a:pPr>
            <a:r>
              <a:rPr sz="1900" b="1" i="0">
                <a:solidFill>
                  <a:srgbClr val="222222"/>
                </a:solidFill>
                <a:latin typeface="Arial"/>
              </a:rPr>
              <a:t>Theme- Smart automation</a:t>
            </a:r>
          </a:p>
          <a:p>
            <a:pPr algn="just">
              <a:spcAft>
                <a:spcPts val="600"/>
              </a:spcAft>
            </a:pPr>
            <a:r>
              <a:rPr sz="1900" b="1" i="0">
                <a:solidFill>
                  <a:srgbClr val="222222"/>
                </a:solidFill>
                <a:latin typeface="Arial"/>
              </a:rPr>
              <a:t>PS Category- Software</a:t>
            </a:r>
          </a:p>
          <a:p>
            <a:pPr algn="just">
              <a:spcAft>
                <a:spcPts val="600"/>
              </a:spcAft>
            </a:pPr>
            <a:r>
              <a:rPr sz="1900" b="1" i="0">
                <a:solidFill>
                  <a:srgbClr val="222222"/>
                </a:solidFill>
                <a:latin typeface="Arial"/>
              </a:rPr>
              <a:t>Ministry- Ministry of Consumer Affairs, Food &amp; Public Distribution</a:t>
            </a:r>
          </a:p>
          <a:p>
            <a:pPr algn="just">
              <a:spcAft>
                <a:spcPts val="600"/>
              </a:spcAft>
            </a:pPr>
            <a:r>
              <a:rPr sz="1900" b="1" i="0">
                <a:solidFill>
                  <a:srgbClr val="B91C1C"/>
                </a:solidFill>
                <a:latin typeface="Arial"/>
              </a:rPr>
              <a:t>Team ID- </a:t>
            </a:r>
            <a:r>
              <a:rPr sz="1900" b="1" i="1">
                <a:solidFill>
                  <a:srgbClr val="B91C1C"/>
                </a:solidFill>
                <a:latin typeface="Arial"/>
              </a:rPr>
              <a:t>[PENDING — provide before final submission]</a:t>
            </a:r>
          </a:p>
          <a:p>
            <a:pPr algn="just">
              <a:spcAft>
                <a:spcPts val="600"/>
              </a:spcAft>
            </a:pPr>
            <a:r>
              <a:rPr sz="1900" b="1" i="0">
                <a:solidFill>
                  <a:srgbClr val="222222"/>
                </a:solidFill>
                <a:latin typeface="Arial"/>
              </a:rPr>
              <a:t>Team Name- AgroBridge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628" y="1501"/>
            <a:ext cx="2058307" cy="97189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7B3CC7-428E-BFDC-0FE9-40E93EE777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55" y="104792"/>
            <a:ext cx="1659630" cy="77416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D3309AF-4807-E7E8-2F7C-603D3790B44D}"/>
              </a:ext>
            </a:extLst>
          </p:cNvPr>
          <p:cNvSpPr txBox="1"/>
          <p:nvPr/>
        </p:nvSpPr>
        <p:spPr>
          <a:xfrm>
            <a:off x="324464" y="302782"/>
            <a:ext cx="13351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kern="1200" dirty="0">
                <a:solidFill>
                  <a:schemeClr val="tx1"/>
                </a:solidFill>
                <a:effectLst/>
                <a:latin typeface="Calibri" pitchFamily="34" charset="0"/>
                <a:ea typeface="ＭＳ Ｐゴシック" panose="020B0600070205080204" pitchFamily="34" charset="-128"/>
                <a:cs typeface="+mn-cs"/>
              </a:rPr>
              <a:t>AgroBridge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52B5A-E3EE-D22A-A1E6-A13A32A5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156814-F545-073E-53ED-90E6DD7494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3770" y="0"/>
            <a:ext cx="12164966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859E8B-8433-B7C5-79BD-E9C5960BD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68" y="0"/>
            <a:ext cx="1859298" cy="8673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70B651-E488-81CA-3D24-D1C9DC0F83B3}"/>
              </a:ext>
            </a:extLst>
          </p:cNvPr>
          <p:cNvSpPr txBox="1"/>
          <p:nvPr/>
        </p:nvSpPr>
        <p:spPr>
          <a:xfrm>
            <a:off x="551107" y="235974"/>
            <a:ext cx="1347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AgroBridge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" y="1005840"/>
            <a:ext cx="11978640" cy="5833872"/>
          </a:xfrm>
          <a:prstGeom prst="rect">
            <a:avLst/>
          </a:prstGeom>
          <a:solidFill>
            <a:srgbClr val="FFFFFF"/>
          </a:solidFill>
          <a:ln w="15875">
            <a:solidFill>
              <a:srgbClr val="0E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" y="1170432"/>
            <a:ext cx="11612880" cy="566928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E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188720"/>
            <a:ext cx="1143000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14532D"/>
                </a:solidFill>
                <a:latin typeface="Calibri"/>
              </a:rPr>
              <a:t>AgroBridge – Smart Mandi Access &amp; Management Platform</a:t>
            </a:r>
          </a:p>
          <a:p>
            <a:pPr algn="ctr"/>
            <a:r>
              <a:rPr sz="1100" b="0" i="1">
                <a:solidFill>
                  <a:srgbClr val="E87722"/>
                </a:solidFill>
                <a:latin typeface="Calibri"/>
              </a:rPr>
              <a:t>Digitalizing mandi access, queues and procurement for faster, more transparent farmer transactions (working prototype, SIH 2026 Round 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74519"/>
            <a:ext cx="3703320" cy="32918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874519"/>
            <a:ext cx="3703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2240280"/>
            <a:ext cx="3703320" cy="278892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331720"/>
            <a:ext cx="3483863" cy="2606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Long waiting times / crowding at mandi gates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No universal pre-booked arrival slots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Limited real-time queue visibility for farmers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Fragmented procurement schedules &amp; status info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Manual weightment / records → errors &amp; disputes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Uncertainty about payment timing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874519"/>
            <a:ext cx="370332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874519"/>
            <a:ext cx="3703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2240280"/>
            <a:ext cx="3703320" cy="278892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2331720"/>
            <a:ext cx="3483863" cy="2606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Role-based app: Farmer, Mandi Staff, Trader, Arhtiya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Slot booking + live queue / token visibility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Gate scan → stage queues → assay → weigh → mark paid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Capacity-aware yard / slot engine (JS)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Multilingual UI: EN / HI / PA / MR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Gemini chatbot + IVR path for feature phones (prototype)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874519"/>
            <a:ext cx="3703320" cy="329184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1874519"/>
            <a:ext cx="3703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DIFFERENTIATORS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2440" y="2240280"/>
            <a:ext cx="3703320" cy="278892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7" y="2331720"/>
            <a:ext cx="3483863" cy="2606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Crop / quintal-aware slot allocation model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End-to-end mandi workflow in one prototype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Offline-tolerant gate pass (QR / code)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SMS outbox + Expo push notifications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Mock gov adapters (govRail) for staged e-Kharid / MFMB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Honest scope: prototype — not a live mandi deployment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" y="5166360"/>
            <a:ext cx="11612880" cy="960120"/>
          </a:xfrm>
          <a:prstGeom prst="roundRect">
            <a:avLst/>
          </a:prstGeom>
          <a:solidFill>
            <a:srgbClr val="FFF8E7"/>
          </a:solidFill>
          <a:ln w="1587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30368"/>
            <a:ext cx="1133856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00" b="1" i="0">
                <a:solidFill>
                  <a:srgbClr val="14532D"/>
                </a:solidFill>
                <a:latin typeface="Calibri"/>
              </a:rPr>
              <a:t>ROUND 1 → ROUND 2  </a:t>
            </a:r>
            <a:r>
              <a:rPr sz="1200" b="1" i="0">
                <a:solidFill>
                  <a:srgbClr val="E87722"/>
                </a:solidFill>
                <a:latin typeface="Calibri"/>
              </a:rPr>
              <a:t>concept → working multi-role prototype</a:t>
            </a:r>
          </a:p>
          <a:p>
            <a:pPr>
              <a:spcBef>
                <a:spcPts val="300"/>
              </a:spcBef>
            </a:pPr>
            <a:r>
              <a:rPr sz="1100" b="1" i="0">
                <a:solidFill>
                  <a:srgbClr val="1B3A6B"/>
                </a:solidFill>
                <a:latin typeface="Calibri"/>
              </a:rPr>
              <a:t>Delivered in repo: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React Native / Expo app + Firebase / Firestore + capacity &amp; queue engine + Node IVR/chatbot services (Render) + Gemini assistant + Firebase Hosting web build. </a:t>
            </a:r>
            <a:r>
              <a:rPr sz="1100" b="1" i="0">
                <a:solidFill>
                  <a:srgbClr val="B91C1C"/>
                </a:solidFill>
                <a:latin typeface="Calibri"/>
              </a:rPr>
              <a:t>Still pending: </a:t>
            </a:r>
            <a:r>
              <a:rPr sz="1100" b="0" i="0">
                <a:solidFill>
                  <a:srgbClr val="B91C1C"/>
                </a:solidFill>
                <a:latin typeface="Calibri"/>
              </a:rPr>
              <a:t>live telephony account (sim mode active), SMS gateway, production Firestore rules (Mode B), real government / MFMB / e-Kharid integration (mock adapters only), measured field impact.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DC2F3-867D-7472-0050-F9689E5F1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 sz="1200">
              <a:solidFill>
                <a:srgbClr val="14532D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DB7AB6-FF6C-000A-1DD7-72307CC0A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rgbClr val="14532D"/>
                </a:solidFill>
                <a:latin typeface="Calibri"/>
              </a:rPr>
              <a:t>@SIH Idea submission- Template</a:t>
            </a:r>
            <a:endParaRPr lang="en-US" dirty="0" sz="1200">
              <a:solidFill>
                <a:srgbClr val="14532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538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0C84A-3945-61D9-A5DD-207083FF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E2490C6-9B6D-FCC7-0C46-F47FE14A3E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516" y="1684"/>
            <a:ext cx="12164967" cy="68546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98F8EB-8ACF-4733-F595-1FC41A7C5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8" y="1"/>
            <a:ext cx="1592826" cy="7430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4EC135-0055-F7F3-C183-DDA5E5395630}"/>
              </a:ext>
            </a:extLst>
          </p:cNvPr>
          <p:cNvSpPr txBox="1"/>
          <p:nvPr/>
        </p:nvSpPr>
        <p:spPr>
          <a:xfrm>
            <a:off x="251105" y="182351"/>
            <a:ext cx="131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AgroBridge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569ECF-6F6C-C665-A65D-0CAF709292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259" y="-58369"/>
            <a:ext cx="1792700" cy="85077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9728" y="877824"/>
            <a:ext cx="11978640" cy="5961888"/>
          </a:xfrm>
          <a:prstGeom prst="rect">
            <a:avLst/>
          </a:prstGeom>
          <a:solidFill>
            <a:srgbClr val="FFFFFF"/>
          </a:solidFill>
          <a:ln w="15875">
            <a:solidFill>
              <a:srgbClr val="0E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170432"/>
            <a:ext cx="5760720" cy="32918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170432"/>
            <a:ext cx="57607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SYSTEM ARCHITECTURE (CURRENT IMPLEMENTATION)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627632"/>
            <a:ext cx="5394960" cy="384048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627632"/>
            <a:ext cx="5394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Users: Farmer / Trader / Mandi Staff / Arhtiya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103120"/>
            <a:ext cx="5394960" cy="384048"/>
          </a:xfrm>
          <a:prstGeom prst="round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103120"/>
            <a:ext cx="5394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React Native + Expo app (iOS / Android / Web)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78608"/>
            <a:ext cx="5394960" cy="384048"/>
          </a:xfrm>
          <a:prstGeom prst="round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578608"/>
            <a:ext cx="539496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App services + capacity / queue engine (JS)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2029968"/>
            <a:ext cx="54864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14532D"/>
                </a:solidFill>
                <a:latin typeface="Calibri"/>
              </a:rP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505456"/>
            <a:ext cx="54864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14532D"/>
                </a:solidFill>
                <a:latin typeface="Calibri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962656"/>
            <a:ext cx="54864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14532D"/>
                </a:solidFill>
                <a:latin typeface="Calibri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108960"/>
            <a:ext cx="2606040" cy="658368"/>
          </a:xfrm>
          <a:prstGeom prst="round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108960"/>
            <a:ext cx="26060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Firebase / Firestore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bookings, queues, users, rules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91840" y="3108960"/>
            <a:ext cx="2606040" cy="658368"/>
          </a:xfrm>
          <a:prstGeom prst="round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3108960"/>
            <a:ext cx="260604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Node.js (Express) on Render</a:t>
            </a:r>
          </a:p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IVR + chatbot: /health /voice /chat…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3913632"/>
            <a:ext cx="2606040" cy="530352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913632"/>
            <a:ext cx="260604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Queue / slot data + notifications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Expo push + SMS outbox (gateway pending)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3913632"/>
            <a:ext cx="2606040" cy="530352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91840" y="3913632"/>
            <a:ext cx="2606040" cy="53035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alibri"/>
              </a:rPr>
              <a:t>Telephony: sim (active)</a:t>
            </a:r>
          </a:p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Plivo / Twilio coded, not live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590288"/>
            <a:ext cx="5394960" cy="475488"/>
          </a:xfrm>
          <a:prstGeom prst="round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590288"/>
            <a:ext cx="5394960" cy="47548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Chatbot: ChatbotScreen → Node /chat → Gemini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12080"/>
            <a:ext cx="5394960" cy="8686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5285232"/>
            <a:ext cx="5166360" cy="7498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050" b="1" i="0">
                <a:solidFill>
                  <a:srgbClr val="14532D"/>
                </a:solidFill>
                <a:latin typeface="Calibri"/>
              </a:rPr>
              <a:t>Honest stack notes: </a:t>
            </a:r>
            <a:r>
              <a:rPr sz="1050" b="0" i="0">
                <a:solidFill>
                  <a:srgbClr val="222222"/>
                </a:solidFill>
                <a:latin typeface="Calibri"/>
              </a:rPr>
              <a:t>Firebase project agrobridge-sih26; TESTING_MODE=true; government rail = mock adapters; hosting = Firebase Hosting (dist) + Render free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170432"/>
            <a:ext cx="5669280" cy="32918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1170432"/>
            <a:ext cx="566928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6263640" y="1591056"/>
          <a:ext cx="56692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2286000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L="38100" marR="38100" marT="25400" marB="25400" anchor="ctr">
                    <a:solidFill>
                      <a:srgbClr val="0E5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 marL="38100" marR="38100" marT="25400" marB="25400" anchor="ctr">
                    <a:solidFill>
                      <a:srgbClr val="0E5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38100" marR="38100" marT="25400" marB="25400" anchor="ctr">
                    <a:solidFill>
                      <a:srgbClr val="0E5C2E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2222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React Native 0.86 / Expo ~57 (JS)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Multi-role mobile app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2222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Node.js Express on Render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IVR + chatbot services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2222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Firebase / Firestore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Bookings, queues, users, rules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2222"/>
                          </a:solidFill>
                          <a:latin typeface="Calibri"/>
                        </a:rPr>
                        <a:t>AI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Gemini API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Assistant chatbot (EN/HI/Hinglish)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2222"/>
                          </a:solidFill>
                          <a:latin typeface="Calibri"/>
                        </a:rPr>
                        <a:t>IVR / Voice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sim active; Plivo, Twilio coded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Feature-phone booking path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2222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Firebase Hosting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Static web build (dist)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2222"/>
                          </a:solidFill>
                          <a:latin typeface="Calibri"/>
                        </a:rPr>
                        <a:t>Push / SMS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Expo push; SMS outbox queued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Notifications (SMS GW pending)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2222"/>
                          </a:solidFill>
                          <a:latin typeface="Calibri"/>
                        </a:rPr>
                        <a:t>Engine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JS capacity / queue / noshow models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Slot &amp; throughput logic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222222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Firebase Emulator Suite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222222"/>
                          </a:solidFill>
                          <a:latin typeface="Calibri"/>
                        </a:rPr>
                        <a:t>Local functions / firestore tests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6263640" y="4956048"/>
            <a:ext cx="5669280" cy="310896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4956048"/>
            <a:ext cx="566928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USER ROLES (IMPLEMENTED)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63640" y="5285232"/>
            <a:ext cx="5669280" cy="804672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5340096"/>
            <a:ext cx="544068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950" b="1" i="0">
                <a:solidFill>
                  <a:srgbClr val="1B3A6B"/>
                </a:solidFill>
                <a:latin typeface="Calibri"/>
              </a:rPr>
              <a:t>Farmer: </a:t>
            </a:r>
            <a:r>
              <a:rPr sz="950" b="0" i="0">
                <a:solidFill>
                  <a:srgbClr val="222222"/>
                </a:solidFill>
                <a:latin typeface="Calibri"/>
              </a:rPr>
              <a:t>register, book slot, queue/token, status, chatbot.  </a:t>
            </a:r>
            <a:r>
              <a:rPr sz="950" b="1" i="0">
                <a:solidFill>
                  <a:srgbClr val="1B3A6B"/>
                </a:solidFill>
                <a:latin typeface="Calibri"/>
              </a:rPr>
              <a:t>Mandi Staff: </a:t>
            </a:r>
            <a:r>
              <a:rPr sz="950" b="0" i="0">
                <a:solidFill>
                  <a:srgbClr val="222222"/>
                </a:solidFill>
                <a:latin typeface="Calibri"/>
              </a:rPr>
              <a:t>gate scan, stages, assay, weigh, mark paid, reports.</a:t>
            </a:r>
          </a:p>
          <a:p>
            <a:r>
              <a:rPr sz="950" b="1" i="0">
                <a:solidFill>
                  <a:srgbClr val="1B3A6B"/>
                </a:solidFill>
                <a:latin typeface="Calibri"/>
              </a:rPr>
              <a:t>Trader: </a:t>
            </a:r>
            <a:r>
              <a:rPr sz="950" b="0" i="0">
                <a:solidFill>
                  <a:srgbClr val="222222"/>
                </a:solidFill>
                <a:latin typeface="Calibri"/>
              </a:rPr>
              <a:t>auction board &amp; bidding (prototype).  </a:t>
            </a:r>
            <a:r>
              <a:rPr sz="950" b="1" i="0">
                <a:solidFill>
                  <a:srgbClr val="1B3A6B"/>
                </a:solidFill>
                <a:latin typeface="Calibri"/>
              </a:rPr>
              <a:t>Arhtiya: </a:t>
            </a:r>
            <a:r>
              <a:rPr sz="950" b="0" i="0">
                <a:solidFill>
                  <a:srgbClr val="222222"/>
                </a:solidFill>
                <a:latin typeface="Calibri"/>
              </a:rPr>
              <a:t>bulk booking for linked farmers (prototype).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11BDC5-E4F5-7969-B836-903BCC2D3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3</a:t>
            </a:fld>
            <a:endParaRPr lang="en-US" sz="1200">
              <a:solidFill>
                <a:srgbClr val="14532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59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6B616-A2E0-FD44-688F-8063395F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35DBE8-5ADD-69EE-B3AC-60058B687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932A1D-35E7-2D0C-E728-632D8883C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1" y="102206"/>
            <a:ext cx="1859298" cy="8673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B7BAE7-5164-E9AD-7950-0B0518ADCE89}"/>
              </a:ext>
            </a:extLst>
          </p:cNvPr>
          <p:cNvSpPr txBox="1"/>
          <p:nvPr/>
        </p:nvSpPr>
        <p:spPr>
          <a:xfrm>
            <a:off x="346587" y="338588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kern="1200" dirty="0">
                <a:solidFill>
                  <a:schemeClr val="tx1"/>
                </a:solidFill>
                <a:effectLst/>
                <a:latin typeface="Calibri" pitchFamily="34" charset="0"/>
                <a:ea typeface="ＭＳ Ｐゴシック" panose="020B0600070205080204" pitchFamily="34" charset="-128"/>
                <a:cs typeface="+mn-cs"/>
              </a:rPr>
              <a:t>AgroBridge</a:t>
            </a: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09728" y="960120"/>
            <a:ext cx="11978640" cy="5879592"/>
          </a:xfrm>
          <a:prstGeom prst="rect">
            <a:avLst/>
          </a:prstGeom>
          <a:solidFill>
            <a:srgbClr val="FFFFFF"/>
          </a:solidFill>
          <a:ln w="15875">
            <a:solidFill>
              <a:srgbClr val="0E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370332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88720"/>
            <a:ext cx="3703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WHY IT IS FEASIBLE?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572768"/>
            <a:ext cx="3703320" cy="324612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664208"/>
            <a:ext cx="3474720" cy="3063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Working multi-role prototype already in repo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Modular RN/Expo + Node + Firestore architecture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Firebase Hosting web build + emulator tests present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Capacity / queue engine + noshow models implemented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Gemini chatbot wired through Node /chat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SIM-based IVR path coded (default PROVIDER=sim)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Mock govRail adapters ready for staged integration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703320" cy="32918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188720"/>
            <a:ext cx="3703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CHALLENGES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572768"/>
            <a:ext cx="3703320" cy="3246120"/>
          </a:xfrm>
          <a:prstGeom prst="roundRect">
            <a:avLst/>
          </a:prstGeom>
          <a:solidFill>
            <a:srgbClr val="FDEBE8"/>
          </a:solidFill>
          <a:ln w="9525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664208"/>
            <a:ext cx="3474720" cy="3063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B91C1C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Farmer digital literacy &amp; rural connectivity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B91C1C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Adoption by mandi staff on legacy workflows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B91C1C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IVR reliability — Twilio/Plivo accounts not live yet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B91C1C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SMS gateway still queued in outbox (not delivered)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B91C1C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External govt systems mocked (no live MFMB/e-Kharid)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B91C1C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Data sync &amp; scale during harvest peaks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B91C1C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Firestore rules still Mode A (open) for testing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188720"/>
            <a:ext cx="3703320" cy="329184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188720"/>
            <a:ext cx="3703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MITIGATION STRATEGIES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572768"/>
            <a:ext cx="3703320" cy="324612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7" y="1664208"/>
            <a:ext cx="3474720" cy="30632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Multilingual UI (EN / HI / PA / MR)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IVR / keypad path for basic-phone users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Simple farmer booking flow + QR gate pass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Offline-tolerant gate pass verification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Staged integration via mock adapters → live APIs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Telemetry + report screens for monitoring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Plan Mode B rules hardening before production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5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50" b="0" i="0">
                <a:solidFill>
                  <a:srgbClr val="222222"/>
                </a:solidFill>
                <a:latin typeface="Calibri"/>
              </a:rPr>
              <a:t>Free-tier cloud (Firebase + Render) for cost control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5010912"/>
            <a:ext cx="11612880" cy="1143000"/>
          </a:xfrm>
          <a:prstGeom prst="roundRect">
            <a:avLst/>
          </a:prstGeom>
          <a:solidFill>
            <a:srgbClr val="FFF8E7"/>
          </a:solidFill>
          <a:ln w="1587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" y="5084064"/>
            <a:ext cx="1133856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00" b="1" i="0">
                <a:solidFill>
                  <a:srgbClr val="14532D"/>
                </a:solidFill>
                <a:latin typeface="Calibri"/>
              </a:rPr>
              <a:t>ROUND 1 → ROUND 2: </a:t>
            </a:r>
            <a:r>
              <a:rPr sz="1200" b="1" i="0">
                <a:solidFill>
                  <a:srgbClr val="222222"/>
                </a:solidFill>
                <a:latin typeface="Calibri"/>
              </a:rPr>
              <a:t>concept → working multi-role prototype (app + backend + engine + IVR/chatbot prototype).</a:t>
            </a:r>
          </a:p>
          <a:p>
            <a:pPr>
              <a:spcBef>
                <a:spcPts val="400"/>
              </a:spcBef>
            </a:pPr>
            <a:r>
              <a:rPr sz="1100" b="1" i="0">
                <a:solidFill>
                  <a:srgbClr val="1B3A6B"/>
                </a:solidFill>
                <a:latin typeface="Calibri"/>
              </a:rPr>
              <a:t>Viability notes: </a:t>
            </a:r>
            <a:r>
              <a:rPr sz="1100" b="0" i="0">
                <a:solidFill>
                  <a:srgbClr val="222222"/>
                </a:solidFill>
                <a:latin typeface="Calibri"/>
              </a:rPr>
              <a:t>cloud on free tiers for demo scale; telephony/SMS costs need paid accounts before production; no claimed government or mandi deployment yet.</a:t>
            </a:r>
          </a:p>
          <a:p>
            <a:r>
              <a:rPr sz="1100" b="1" i="0">
                <a:solidFill>
                  <a:srgbClr val="B91C1C"/>
                </a:solidFill>
                <a:latin typeface="Calibri"/>
              </a:rPr>
              <a:t>Still pending: </a:t>
            </a:r>
            <a:r>
              <a:rPr sz="1100" b="0" i="0">
                <a:solidFill>
                  <a:srgbClr val="B91C1C"/>
                </a:solidFill>
                <a:latin typeface="Calibri"/>
              </a:rPr>
              <a:t>production security rules, SMS gateway, live Twilio/Plivo, real e-Kharid / MFMB integration, field pilot data.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B7773-4D53-B9FA-C93D-C452DC3D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  <a:solidFill>
                <a:srgbClr val="14532D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869EF9F-14CF-17A1-A10D-E67A9EA5E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4532D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eGothic"/>
              <a:ea typeface="+mn-ea"/>
              <a:cs typeface="+mn-cs"/>
              <a:solidFill>
                <a:srgbClr val="14532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579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703" y="53255"/>
            <a:ext cx="1671484" cy="789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9810DE-66C4-A298-5297-E760DF230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60945"/>
            <a:ext cx="12191810" cy="599705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E750AE2-6F0B-42C8-46A5-8155FA834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1376"/>
            <a:ext cx="1671484" cy="779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C7EFE8-D774-FA5A-8375-37841E9996AC}"/>
              </a:ext>
            </a:extLst>
          </p:cNvPr>
          <p:cNvSpPr txBox="1"/>
          <p:nvPr/>
        </p:nvSpPr>
        <p:spPr>
          <a:xfrm>
            <a:off x="260386" y="2199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kern="1200" dirty="0">
                <a:solidFill>
                  <a:schemeClr val="tx1"/>
                </a:solidFill>
                <a:effectLst/>
                <a:latin typeface="Calibri" pitchFamily="34" charset="0"/>
                <a:ea typeface="ＭＳ Ｐゴシック" panose="020B0600070205080204" pitchFamily="34" charset="-128"/>
                <a:cs typeface="+mn-cs"/>
              </a:rPr>
              <a:t>AgroBridge</a:t>
            </a:r>
            <a:endParaRPr lang="en-IN" dirty="0"/>
          </a:p>
        </p:txBody>
      </p:sp>
      <p:sp>
        <p:nvSpPr>
          <p:cNvPr id="17410" name="Rectangle 17409"/>
          <p:cNvSpPr/>
          <p:nvPr/>
        </p:nvSpPr>
        <p:spPr>
          <a:xfrm>
            <a:off x="109728" y="1024128"/>
            <a:ext cx="11978640" cy="5312664"/>
          </a:xfrm>
          <a:prstGeom prst="rect">
            <a:avLst/>
          </a:prstGeom>
          <a:solidFill>
            <a:srgbClr val="FFFFFF"/>
          </a:solidFill>
          <a:ln w="15875">
            <a:solidFill>
              <a:srgbClr val="0E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ectangle 17410"/>
          <p:cNvSpPr/>
          <p:nvPr/>
        </p:nvSpPr>
        <p:spPr>
          <a:xfrm>
            <a:off x="320040" y="1133856"/>
            <a:ext cx="3703320" cy="329184"/>
          </a:xfrm>
          <a:prstGeom prst="rect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320040" y="1133856"/>
            <a:ext cx="3703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FARMERS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0040" y="1517904"/>
            <a:ext cx="3703320" cy="2331720"/>
          </a:xfrm>
          <a:prstGeom prst="roundRect">
            <a:avLst/>
          </a:prstGeom>
          <a:solidFill>
            <a:srgbClr val="FFF8E7"/>
          </a:solidFill>
          <a:ln w="95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429768" y="1609344"/>
            <a:ext cx="3474720" cy="2148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Know when to arrive via booked slot &amp; live queue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Less uncertainty on procurement schedule / status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App + chatbot + IVR access path (prototype)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Digital gate pass &amp; downloadable receipts (in-app)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E87722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Clearer visibility of assay / weigh / payment stages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4206240" y="1133856"/>
            <a:ext cx="3703320" cy="329184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206240" y="1133856"/>
            <a:ext cx="3703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MANDI STAFF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206240" y="1517904"/>
            <a:ext cx="3703320" cy="2331720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315968" y="1609344"/>
            <a:ext cx="3474720" cy="2148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Stage-wise queue visibility (gate → assay → weigh → paid)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Capacity / yard setup tools for planned inflow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Gate scan reduces manual headcounts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Reports &amp; telemetry screens for operations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5803D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Less ad-hoc coordination on peak days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8092440" y="1133856"/>
            <a:ext cx="3703320" cy="329184"/>
          </a:xfrm>
          <a:prstGeom prst="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8092440" y="1133856"/>
            <a:ext cx="37033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SYSTEM / TRANSPARENCY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092440" y="1517904"/>
            <a:ext cx="3703320" cy="2331720"/>
          </a:xfrm>
          <a:prstGeom prst="roundRect">
            <a:avLst/>
          </a:prstGeom>
          <a:solidFill>
            <a:srgbClr val="E3F2FD"/>
          </a:solidFill>
          <a:ln w="9525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8202167" y="1609344"/>
            <a:ext cx="3474720" cy="21488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Digital records across the procurement chain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Status visible to farmer, trader &amp; staff together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Modular workflow ready for staged govt integration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sz="1200" b="1" i="0">
                <a:solidFill>
                  <a:srgbClr val="1B3A6B"/>
                </a:solidFill>
                <a:latin typeface="Calibri"/>
              </a:rPr>
              <a:t>•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Audit-friendly bookings, auctions &amp; receipts (prototype)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0040" y="4023360"/>
            <a:ext cx="11612880" cy="21031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502920" y="4160520"/>
            <a:ext cx="11247120" cy="329184"/>
          </a:xfrm>
          <a:prstGeom prst="rect">
            <a:avLst/>
          </a:prstGeom>
          <a:solidFill>
            <a:srgbClr val="1453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502920" y="4160520"/>
            <a:ext cx="11247120" cy="32918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IMPACT QUANTIFICATION — HONEST STATUS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40080" y="4590288"/>
            <a:ext cx="10972800" cy="1417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r>
              <a:rPr sz="1200" b="1" i="0">
                <a:solidFill>
                  <a:srgbClr val="1B3A6B"/>
                </a:solidFill>
                <a:latin typeface="Calibri"/>
              </a:rPr>
              <a:t>Current prototype: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no measured waiting-time, manpower or economic-impact results yet. Demo runs on seeded test accounts / simulator mode — not live mandi field data.</a:t>
            </a:r>
          </a:p>
          <a:p>
            <a:pPr>
              <a:spcBef>
                <a:spcPts val="600"/>
              </a:spcBef>
            </a:pPr>
            <a:r>
              <a:rPr sz="1200" b="1" i="0">
                <a:solidFill>
                  <a:srgbClr val="14532D"/>
                </a:solidFill>
                <a:latin typeface="Calibri"/>
              </a:rPr>
              <a:t>Projected / modelled benefits </a:t>
            </a:r>
            <a:r>
              <a:rPr sz="1200" b="0" i="0">
                <a:solidFill>
                  <a:srgbClr val="222222"/>
                </a:solidFill>
                <a:latin typeface="Calibri"/>
              </a:rPr>
              <a:t>(to be validated with pilot data — not measured claims): scheduled arrival → fewer pre-dawn road queues; live status → fewer counter enquiries; capacity-aware slots → smoother peak-day flow; digital records → greater transparency.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B91C1C"/>
                </a:solidFill>
                <a:latin typeface="Calibri"/>
              </a:rPr>
              <a:t>Do not cite as achieved reductions: </a:t>
            </a:r>
            <a:r>
              <a:rPr sz="1150" b="0" i="1">
                <a:solidFill>
                  <a:srgbClr val="B91C1C"/>
                </a:solidFill>
                <a:latin typeface="Calibri"/>
              </a:rPr>
              <a:t>“less waiting time”, “saves time &amp; costs”, “reduced manpower” are design goals only until pilot metrics exist.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  <a:solidFill>
                <a:srgbClr val="FFFFFF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eGothic"/>
              <a:ea typeface="+mn-ea"/>
              <a:cs typeface="+mn-cs"/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FC44-7A30-E270-BA18-5B58D5A9D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DA9D57-B996-F5A8-3BD7-2121685F6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084581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175C47-CFB0-77F4-88EB-E0099A261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557" y="148272"/>
            <a:ext cx="1859298" cy="8673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1DC912-014B-EE1D-F1F7-89308C49C6ED}"/>
              </a:ext>
            </a:extLst>
          </p:cNvPr>
          <p:cNvSpPr txBox="1"/>
          <p:nvPr/>
        </p:nvSpPr>
        <p:spPr>
          <a:xfrm>
            <a:off x="518651" y="397257"/>
            <a:ext cx="6189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kern="1200" dirty="0">
                <a:solidFill>
                  <a:schemeClr val="tx1"/>
                </a:solidFill>
                <a:effectLst/>
                <a:latin typeface="Calibri" pitchFamily="34" charset="0"/>
                <a:ea typeface="ＭＳ Ｐゴシック" panose="020B0600070205080204" pitchFamily="34" charset="-128"/>
                <a:cs typeface="+mn-cs"/>
              </a:rPr>
              <a:t>AgroBridge</a:t>
            </a:r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109728" y="1005840"/>
            <a:ext cx="11978640" cy="5833872"/>
          </a:xfrm>
          <a:prstGeom prst="rect">
            <a:avLst/>
          </a:prstGeom>
          <a:solidFill>
            <a:srgbClr val="FFFFFF"/>
          </a:solidFill>
          <a:ln w="15875">
            <a:solidFill>
              <a:srgbClr val="0E5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170432"/>
          <a:ext cx="1147572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732520"/>
              </a:tblGrid>
              <a:tr h="449884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 marL="38100" marR="38100" marT="25400" marB="25400" anchor="ctr">
                    <a:solidFill>
                      <a:srgbClr val="0E5C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38100" marR="38100" marT="25400" marB="25400" anchor="ctr">
                    <a:solidFill>
                      <a:srgbClr val="0E5C2E"/>
                    </a:solidFill>
                  </a:tcPr>
                </a:tc>
              </a:tr>
              <a:tr h="4498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2222"/>
                          </a:solidFill>
                          <a:latin typeface="Calibri"/>
                        </a:rPr>
                        <a:t>APMC / mandi process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State APMC Act summaries; AgriStack &amp; state marketing-board guidance (e.g., Haryana Agricultural Produce Markets Act) — agriharyana.gov.in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  <a:tr h="4498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2222"/>
                          </a:solidFill>
                          <a:latin typeface="Calibri"/>
                        </a:rPr>
                        <a:t>Govt procurement &amp; MSP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Dept. of Food &amp; Public Distribution; CACP MSP notifications — dfpd.gov.in; acac.gov.in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4498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2222"/>
                          </a:solidFill>
                          <a:latin typeface="Calibri"/>
                        </a:rPr>
                        <a:t>eNAM national e-trading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National Agriculture Market (eNAM), Ministry of Agriculture — enam.gov.in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  <a:tr h="4498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2222"/>
                          </a:solidFill>
                          <a:latin typeface="Calibri"/>
                        </a:rPr>
                        <a:t>Farmer registration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Meri Fasal Mera Byora (Haryana) &amp; e-Kharid portals — mfmb.haryana.gov.in; ekharid.in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4498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2222"/>
                          </a:solidFill>
                          <a:latin typeface="Calibri"/>
                        </a:rPr>
                        <a:t>Quality norms (FAQ)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FCI / Govt of India FAQ norms for foodgrains — fci.gov.in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  <a:tr h="4498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2222"/>
                          </a:solidFill>
                          <a:latin typeface="Calibri"/>
                        </a:rPr>
                        <a:t>Digital agriculture context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ICAR / Ministry of Agriculture digital-agriculture material; NASSCOM &amp; NABARD digital-inclusion studies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4498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2222"/>
                          </a:solidFill>
                          <a:latin typeface="Calibri"/>
                        </a:rPr>
                        <a:t>Technical: mobile &amp; data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React Native / Expo docs (docs.expo.dev); Firebase / Firestore docs (firebase.google.com/docs)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  <a:tr h="4498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2222"/>
                          </a:solidFill>
                          <a:latin typeface="Calibri"/>
                        </a:rPr>
                        <a:t>Technical: AI &amp; voice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Google Gemini API docs (ai.google.dev); Twilio &amp; Plivo voice API docs (twilio.com/docs/voice; plivo.com/voice/api/)</a:t>
                      </a:r>
                    </a:p>
                  </a:txBody>
                  <a:tcPr marL="38100" marR="38100" marT="25400" marB="25400" anchor="ctr">
                    <a:solidFill>
                      <a:srgbClr val="FFFFFF"/>
                    </a:solidFill>
                  </a:tcPr>
                </a:tc>
              </a:tr>
              <a:tr h="44989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222222"/>
                          </a:solidFill>
                          <a:latin typeface="Calibri"/>
                        </a:rPr>
                        <a:t>In-product references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 i="0">
                          <a:solidFill>
                            <a:srgbClr val="222222"/>
                          </a:solidFill>
                          <a:latin typeface="Calibri"/>
                        </a:rPr>
                        <a:t>Kisan Suvidha &amp; Kisan Sarathi (farmer services); eNAM — used as competitive/landscape research in Round 1</a:t>
                      </a:r>
                    </a:p>
                  </a:txBody>
                  <a:tcPr marL="38100" marR="38100" marT="25400" marB="25400" anchor="ctr">
                    <a:solidFill>
                      <a:srgbClr val="F7FBF7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5797296"/>
            <a:ext cx="11475720" cy="4572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815584"/>
            <a:ext cx="11201400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1100" b="0" i="1">
                <a:solidFill>
                  <a:srgbClr val="14532D"/>
                </a:solidFill>
                <a:latin typeface="Calibri"/>
              </a:rPr>
              <a:t>All sources are public government portals or official technical documentation. Round 1 background also used Kisan Suvidha / Kisan Sarathi / eNAM and mentor guidance — no fabricated references.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3826E-F0F0-1BB4-06F0-54562451D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  <a:solidFill>
                <a:srgbClr val="14532D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6230C6E-1172-5F45-E7F6-300B33C49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4532D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radeGothic"/>
              <a:ea typeface="+mn-ea"/>
              <a:cs typeface="+mn-cs"/>
              <a:solidFill>
                <a:srgbClr val="14532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249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14837</TotalTime>
  <Words>92</Words>
  <Application>Microsoft Office PowerPoint</Application>
  <PresentationFormat>Widescreen</PresentationFormat>
  <Paragraphs>31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Pooja Sethi</cp:lastModifiedBy>
  <cp:revision>163</cp:revision>
  <dcterms:created xsi:type="dcterms:W3CDTF">2013-12-12T18:46:50Z</dcterms:created>
  <dcterms:modified xsi:type="dcterms:W3CDTF">2026-09-12T20:16:51Z</dcterms:modified>
  <cp:category/>
</cp:coreProperties>
</file>